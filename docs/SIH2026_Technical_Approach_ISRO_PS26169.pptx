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2011680" cy="5029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🚀 TEAM FALCONS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"/>
            <a:ext cx="7040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TECHNICAL APPROACH</a:t>
            </a:r>
          </a:p>
          <a:p>
            <a:pPr algn="ctr">
              <a:defRPr sz="1000">
                <a:solidFill>
                  <a:srgbClr val="34D399"/>
                </a:solidFill>
                <a:latin typeface="Arial"/>
              </a:defRPr>
            </a:pPr>
            <a:r>
              <a:t>SMART INDIA HACKATHON 2026 | ISRO PS ID: 26169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228600"/>
            <a:ext cx="2011680" cy="5029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  <a:latin typeface="Arial"/>
              </a:defRPr>
            </a:pPr>
            <a:r>
              <a:t>🇮🇳 ISRO / 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❖ TECHNOLOGY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2606040" cy="10058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🌐 Frontend &amp; 3D Twin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Three.js (WebGL), HTML5 Canvas HUD, Chart.js, Vanilla CSS Glassmorphism, IBM Plex typography, 60 FPS WebSockets.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325880"/>
            <a:ext cx="2606040" cy="10058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⚡ Backend Engine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Python 3.11+, FastAPI (ASGI), Uvicorn Server, Asyncio Event Loop, NumPy, SciPy (Vectorized Linear Algebra).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423160"/>
            <a:ext cx="2606040" cy="10058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🧠 AI &amp; Perception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YOLOv8-FSOC Beacon Detector, ONNX Runtime, TensorRT edge acceleration, Pinhole Camera Intrinsic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423160"/>
            <a:ext cx="2606040" cy="10058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🎯 Estimation &amp; Control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6-DOF Extended Kalman Filter (EKF), Dual-Axis PID Controller with Anti-Windup &amp; Slew Clamping (&lt;= 45 deg/s).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520440"/>
            <a:ext cx="5303520" cy="96012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🔬 Optical Physics &amp; Link Budget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1550nm C-Band EDFA Model, Beer-Lambert Extinction, Gaussian Beam Profile, SNR and Complementary Error Function BER (Pe = 1/2 erfc(sqrt(SNR)/2sqrt(2))).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572000"/>
            <a:ext cx="5303520" cy="86868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🔌 Hardware &amp; Benchmarks</a:t>
            </a:r>
          </a:p>
          <a:p>
            <a:pPr>
              <a:defRPr sz="950">
                <a:solidFill>
                  <a:srgbClr val="FFFFFF"/>
                </a:solidFill>
                <a:latin typeface="Arial"/>
              </a:defRPr>
            </a:pPr>
            <a:r>
              <a:t>STM32 / ESP32 Micro-ROS, Serial CAN-Bus / gRPC, Pan-Tilt Brushless Gimbals, Pytest Suite, Automated 1-Click ISRO Benchmark Logger.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532120"/>
            <a:ext cx="5303520" cy="105156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000" b="1">
                <a:solidFill>
                  <a:srgbClr val="FBBF24"/>
                </a:solidFill>
                <a:latin typeface="Arial"/>
              </a:defRPr>
            </a:pPr>
            <a:r>
              <a:t>❖ FSOC AI Virtual Camera Tracking Engine Summary: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Custom YOLOv8 for sub-pixel beacon localization; 6-DOF EKF trajectory prediction during 2.0s cloud occlusions; dual-axis PID closed-loop actuation at 60 FPS (&lt; 5ms latency) maintaining pointing error &lt;= 8.72 mrad.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96012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❖ CLOSED-LOOP SYSTEM ARCHITECTURE &amp; DATA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325880"/>
            <a:ext cx="5760720" cy="621792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[01]  3D Kinematics &amp; Channel Engine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Target trajectory [X,Y,Z] in world frame, weather extinction, platform jitter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020824"/>
            <a:ext cx="5760720" cy="621792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[02]  Virtual Pinhole Camera Sensor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Projects 3D coordinates to 2D image plane (1920x1080) using intrinsic matrix 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715768"/>
            <a:ext cx="5760720" cy="621792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[03]  AI Beacon Detector (YOLOv8-FSOC)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Sub-pixel centroid &amp; bounding box extraction (&lt; 2.1 ms inference latency)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410711"/>
            <a:ext cx="5760720" cy="621792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[04]  6-DOF Extended Kalman Filter (EKF)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State estimation [u, v, u_dot, v_dot, u_ddot, v_ddot] + 2.0s occlusion extrapolation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105655"/>
            <a:ext cx="5760720" cy="621792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050" b="1">
                <a:solidFill>
                  <a:srgbClr val="FBBF24"/>
                </a:solidFill>
                <a:latin typeface="Arial"/>
              </a:defRPr>
            </a:pPr>
            <a:r>
              <a:t>[05]  Dual-Axis PID Gimbal Controller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Clamped slew (&lt;= 45 deg/s) to maintain optical alignment within 8.72 mrad (0.50 deg)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800599"/>
            <a:ext cx="5760720" cy="621792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[06]  1550nm FSOC Optical Physics &amp; Link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Evaluates Beer-Lambert loss, RSSI (dBm), SNR (dB), and validates BER &lt;= 1e-9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5623560"/>
            <a:ext cx="1353312" cy="960120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34D399"/>
                </a:solidFill>
                <a:latin typeface="Arial"/>
              </a:defRPr>
            </a:pPr>
            <a:r>
              <a:t>≤ 8.72 mrad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Coarse Threshold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5623560"/>
            <a:ext cx="1353312" cy="960120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34D399"/>
                </a:solidFill>
                <a:latin typeface="Arial"/>
              </a:defRPr>
            </a:pPr>
            <a:r>
              <a:t>60 FPS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Telemetry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5623560"/>
            <a:ext cx="1353312" cy="960120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34D399"/>
                </a:solidFill>
                <a:latin typeface="Arial"/>
              </a:defRPr>
            </a:pPr>
            <a:r>
              <a:t>&lt; 5.0 ms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Processing Latency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59" y="5623560"/>
            <a:ext cx="1353312" cy="960120"/>
          </a:xfrm>
          <a:prstGeom prst="roundRect">
            <a:avLst/>
          </a:prstGeom>
          <a:solidFill>
            <a:srgbClr val="141E3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34D399"/>
                </a:solidFill>
                <a:latin typeface="Arial"/>
              </a:defRPr>
            </a:pPr>
            <a:r>
              <a:t>&gt; 95.0%</a:t>
            </a:r>
          </a:p>
          <a:p>
            <a:pPr algn="ctr">
              <a:defRPr sz="850">
                <a:solidFill>
                  <a:srgbClr val="94A3B8"/>
                </a:solidFill>
                <a:latin typeface="Arial"/>
              </a:defRPr>
            </a:pPr>
            <a:r>
              <a:t>Lock Retention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2011680" cy="5029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🚀 TEAM FALCONS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"/>
            <a:ext cx="7040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TECHNICAL APPROACH &amp; METHODOLOGY</a:t>
            </a:r>
          </a:p>
          <a:p>
            <a:pPr algn="ctr">
              <a:defRPr sz="1000">
                <a:solidFill>
                  <a:srgbClr val="34D399"/>
                </a:solidFill>
                <a:latin typeface="Arial"/>
              </a:defRPr>
            </a:pPr>
            <a:r>
              <a:t>SMART INDIA HACKATHON 2026 | ISRO PS ID: 26169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228600"/>
            <a:ext cx="2011680" cy="5029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  <a:latin typeface="Arial"/>
              </a:defRPr>
            </a:pPr>
            <a:r>
              <a:t>🇮🇳 ISRO / 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❖ 6-PHASE METHODOLOGY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356616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1. Kinematics &amp; Channel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3D target trajectory + wind turbulence &amp; weather attenuation.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67128"/>
            <a:ext cx="356616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2. Camera Projection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Pinhole intrinsic projection matrix mapping [X,Y,Z] -&gt; [u,v].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008376"/>
            <a:ext cx="356616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3. AI YOLOv8 Detection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Sub-pixel centroid localization with optical beacon filter.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849624"/>
            <a:ext cx="356616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4. 6-DOF EKF Estimation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Forward trajectory extrapolation across 2.0s cloud occlusions.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690872"/>
            <a:ext cx="356616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5. Dual-Axis PID Control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Clamped slew (&lt;= 45 deg/s) to achieve pointing error &lt;= 8.72 mrad.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532120"/>
            <a:ext cx="356616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141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6. Optical Link Validation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1550nm link budget: RSSI, SNR, and BER &lt;= 1e-9 (10 Gbps Lock).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9601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❖ SIMULATION TO HARDWARE MAPPING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325880"/>
            <a:ext cx="393192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Optical Perception: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• Sim: Synthetic pinhole projection</a:t>
            </a:r>
            <a:br/>
            <a:r>
              <a:t>• Hardware: 1550nm InGaAs SWIR Coarse Acquisition Camera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2167128"/>
            <a:ext cx="393192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AI Target Detection: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• Sim: YOLOv8-FSOC ONNX model</a:t>
            </a:r>
            <a:br/>
            <a:r>
              <a:t>• Hardware: Jetson Orin / Embedded FPGA AI Accelerator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008376"/>
            <a:ext cx="393192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State Estimation: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• Sim: 6-DOF EKF Riccati filter</a:t>
            </a:r>
            <a:br/>
            <a:r>
              <a:t>• Hardware: Real-time C++ EKF flight controller firmware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849624"/>
            <a:ext cx="393192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FBBF24"/>
                </a:solidFill>
                <a:latin typeface="Arial"/>
              </a:defRPr>
            </a:pPr>
            <a:r>
              <a:t>Gimbal Pointing: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• Sim: Dual-axis PID with slew limit</a:t>
            </a:r>
            <a:br/>
            <a:r>
              <a:t>• Hardware: Direct CAN-bus PWM to Pan-Tilt Direct Motors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690872"/>
            <a:ext cx="393192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Optical Physics: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• Sim: Gaussian beam &amp; Beer-Lambert</a:t>
            </a:r>
            <a:br/>
            <a:r>
              <a:t>• Hardware: 100mW EDFA Laser Diode + APD Photodiode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532120"/>
            <a:ext cx="3931920" cy="777240"/>
          </a:xfrm>
          <a:prstGeom prst="roundRect">
            <a:avLst/>
          </a:prstGeom>
          <a:solidFill>
            <a:srgbClr val="0E1628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94A3B8"/>
                </a:solidFill>
                <a:latin typeface="Arial"/>
              </a:defRPr>
            </a:pPr>
            <a:r>
              <a:t>Mission Telemetry:</a:t>
            </a:r>
          </a:p>
          <a:p>
            <a:pPr>
              <a:defRPr sz="850">
                <a:solidFill>
                  <a:srgbClr val="FFFFFF"/>
                </a:solidFill>
                <a:latin typeface="Arial"/>
              </a:defRPr>
            </a:pPr>
            <a:r>
              <a:t>• Sim: 60 FPS WebSocket data bus</a:t>
            </a:r>
            <a:br/>
            <a:r>
              <a:t>• Hardware: ISTRAC Ground Station CCSDS / ZeroMQ Protocol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960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Arial"/>
              </a:defRPr>
            </a:pPr>
            <a:r>
              <a:t>❖ TECHNOLOGIES 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325880"/>
            <a:ext cx="3657600" cy="941832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🎨 FrontEnd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React / Three.js (WebGL), HTML5 Canvas Telescope HUD, Chart.js, Vanilla CSS Glassmorphism.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331720"/>
            <a:ext cx="3657600" cy="941832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⚡ BackEnd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Python 3.11+, FastAPI (ASGI), Uvicorn, NumPy, SciPy (Vectorized Math), WebSockets.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337560"/>
            <a:ext cx="3657600" cy="941832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1">
                <a:solidFill>
                  <a:srgbClr val="34D399"/>
                </a:solidFill>
                <a:latin typeface="Arial"/>
              </a:defRPr>
            </a:pPr>
            <a:r>
              <a:t>🧠 AI &amp; Estimation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YOLOv8-FSOC, 6-DOF Extended Kalman Filter (EKF), Dual-Axis PID Slew Controller.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343400"/>
            <a:ext cx="3657600" cy="941832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1">
                <a:solidFill>
                  <a:srgbClr val="FBBF24"/>
                </a:solidFill>
                <a:latin typeface="Arial"/>
              </a:defRPr>
            </a:pPr>
            <a:r>
              <a:t>📊 Benchmarking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Automated 1-Click ISRO Performance Logger (JSON Summary, CSV Dataset, PDF Report).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5349240"/>
            <a:ext cx="3657600" cy="941832"/>
          </a:xfrm>
          <a:prstGeom prst="roundRect">
            <a:avLst/>
          </a:prstGeom>
          <a:solidFill>
            <a:srgbClr val="141E37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📡 Optical Physics</a:t>
            </a:r>
          </a:p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1550nm FSOC Laser Link Budget, Beer-Lambert Extinction, Gaussian Beam Loss, SNR &amp; 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"/>
            <a:ext cx="2011680" cy="5029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🚀 TEAM FALCONS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37160"/>
            <a:ext cx="7040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ALGORITHMIC RIGOR &amp; MATHEMATICAL FORMULATION</a:t>
            </a:r>
          </a:p>
          <a:p>
            <a:pPr algn="ctr">
              <a:defRPr sz="1000">
                <a:solidFill>
                  <a:srgbClr val="34D399"/>
                </a:solidFill>
                <a:latin typeface="Arial"/>
              </a:defRPr>
            </a:pPr>
            <a:r>
              <a:t>MATHEMATICAL RIGOR &amp; CONTROL EQUATIONS | ISRO PS ID: 26169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228600"/>
            <a:ext cx="2011680" cy="502920"/>
          </a:xfrm>
          <a:prstGeom prst="roundRect">
            <a:avLst/>
          </a:prstGeom>
          <a:solidFill>
            <a:srgbClr val="141E3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BBF24"/>
                </a:solidFill>
                <a:latin typeface="Arial"/>
              </a:defRPr>
            </a:pPr>
            <a:r>
              <a:t>🇮🇳 ISRO / 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97280"/>
            <a:ext cx="5577840" cy="2468880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1. Pinhole Camera Projection Model</a:t>
            </a:r>
          </a:p>
          <a:p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• 3D to 2D Homogeneous Coordinate Transform:</a:t>
            </a:r>
            <a:br/>
            <a:r>
              <a:t>  [u, v, 1]^T = (1/Z_c) * K * [R | T] * [X_w, Y_w, Z_w, 1]^T</a:t>
            </a:r>
            <a:br/>
            <a:r>
              <a:t>• Intrinsic Matrix K = diag(f_x, f_y, 1) + [0, 0, c_x; 0, 0, c_y; 0, 0, 0]</a:t>
            </a:r>
            <a:br/>
            <a:r>
              <a:t>• Optical Sensor Noise: eta ~ N(0, sigma_pixel^2) with sigma = 0.5 px</a:t>
            </a:r>
            <a:br/>
            <a:r>
              <a:t>• Real-time sub-pixel centroid extraction at 1920x1080 resolution.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577840" cy="2468880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50" b="1">
                <a:solidFill>
                  <a:srgbClr val="34D399"/>
                </a:solidFill>
                <a:latin typeface="Arial"/>
              </a:defRPr>
            </a:pPr>
            <a:r>
              <a:t>2. 6-DOF Extended Kalman Filter (EKF)</a:t>
            </a:r>
          </a:p>
          <a:p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• State Vector: x = [u, v, u_dot, v_dot, u_ddot, v_ddot]^T</a:t>
            </a:r>
            <a:br/>
            <a:r>
              <a:t>• State Transition: x_{k|k-1} = F * x_{k-1} + w_k,  w_k ~ N(0, Q)</a:t>
            </a:r>
            <a:br/>
            <a:r>
              <a:t>• Measurement Update: z_k = H * x_k + v_k,  v_k ~ N(0, R)</a:t>
            </a:r>
            <a:br/>
            <a:r>
              <a:t>• Kalman Gain: K_k = P_{k|k-1} H^T (H P_{k|k-1} H^T + R)^{-1}</a:t>
            </a:r>
            <a:br/>
            <a:r>
              <a:t>• 2.0s Occlusion Extrapolation: P_k updates via continuous Riccati propagation.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749039"/>
            <a:ext cx="5577840" cy="2468880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50" b="1">
                <a:solidFill>
                  <a:srgbClr val="FBBF24"/>
                </a:solidFill>
                <a:latin typeface="Arial"/>
              </a:defRPr>
            </a:pPr>
            <a:r>
              <a:t>3. Dual-Axis PID Gimbal Slew Dynamics</a:t>
            </a:r>
          </a:p>
          <a:p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• Pixel Error to Angular Rate: e_theta = (u - c_x)/f_x,  e_phi = (v - c_y)/f_y</a:t>
            </a:r>
            <a:br/>
            <a:r>
              <a:t>• Control Law: u(t) = K_p e(t) + K_i int_0^t e(tau) dtau + K_d (de/dt)</a:t>
            </a:r>
            <a:br/>
            <a:r>
              <a:t>• Dynamic Anti-Windup: Clamps integral accumulator during high slews</a:t>
            </a:r>
            <a:br/>
            <a:r>
              <a:t>• Slew Rate Limiter: |omega_az| &lt;= 45 deg/s, |omega_el| &lt;= 45 deg/s</a:t>
            </a:r>
            <a:br/>
            <a:r>
              <a:t>• Pointing Error Target: theta_pointing &lt;= 8.72 mrad (0.50 deg).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5577840" cy="2468880"/>
          </a:xfrm>
          <a:prstGeom prst="roundRect">
            <a:avLst/>
          </a:prstGeom>
          <a:solidFill>
            <a:srgbClr val="0E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4. 1550nm FSOC Optical Physics &amp; Link Budget</a:t>
            </a:r>
          </a:p>
          <a:p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• Received Power: P_RX(dBm) = P_TX + G_TX + G_RX - FSPL - L_pointing - A_atm</a:t>
            </a:r>
            <a:br/>
            <a:r>
              <a:t>• Gaussian Pointing Loss: L_pointing = -8.686 * (theta_pointing / theta_div)^2 dB</a:t>
            </a:r>
            <a:br/>
            <a:r>
              <a:t>• Beer-Lambert Extinction: A_atm(R) = 10 * gamma_ext * R * log10(e)</a:t>
            </a:r>
            <a:br/>
            <a:r>
              <a:t>• Bit Error Rate (BER): P_e = 0.5 * erfc(sqrt(SNR) / (2 * sqrt(2)))</a:t>
            </a:r>
            <a:br/>
            <a:r>
              <a:t>• Carrier Lock: BER &lt;= 1e-9 &amp; SNR &gt;= 25 dB enables 10 Gbps data throughput.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